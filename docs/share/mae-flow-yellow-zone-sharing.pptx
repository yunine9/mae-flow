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375b8e3e994e87" /><Relationship Type="http://schemas.openxmlformats.org/officeDocument/2006/relationships/extended-properties" Target="/docProps/app.xml" Id="R84b1f9c131884671" /><Relationship Type="http://schemas.openxmlformats.org/officeDocument/2006/relationships/officeDocument" Target="/ppt/presentation.xml" Id="R1455bad4ca234b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11720f71e946b5"/>
  </p:sldMasterIdLst>
  <p:notesMasterIdLst>
    <p:notesMasterId xmlns:r="http://schemas.openxmlformats.org/officeDocument/2006/relationships" r:id="R4b9c641c18934252"/>
  </p:notesMasterIdLst>
  <p:sldIdLst>
    <p:sldId xmlns:r="http://schemas.openxmlformats.org/officeDocument/2006/relationships" id="256" r:id="R41c2233165624e04"/>
    <p:sldId xmlns:r="http://schemas.openxmlformats.org/officeDocument/2006/relationships" id="257" r:id="Re50796cc54264b57"/>
    <p:sldId xmlns:r="http://schemas.openxmlformats.org/officeDocument/2006/relationships" id="258" r:id="R6d1318818d6a45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9575f7ba3b4042" /><Relationship Type="http://schemas.openxmlformats.org/officeDocument/2006/relationships/slideMaster" Target="/ppt/slideMasters/slideMaster1.xml" Id="R3011720f71e946b5" /><Relationship Type="http://schemas.openxmlformats.org/officeDocument/2006/relationships/notesMaster" Target="/ppt/notesMasters/notesMaster1.xml" Id="R4b9c641c18934252" /><Relationship Type="http://schemas.openxmlformats.org/officeDocument/2006/relationships/presProps" Target="/ppt/presProps.xml" Id="Ra4b2f18e9a4b4761" /><Relationship Type="http://schemas.openxmlformats.org/officeDocument/2006/relationships/tableStyles" Target="/ppt/tableStyles.xml" Id="Re5a85eea12624ced" /><Relationship Type="http://schemas.openxmlformats.org/officeDocument/2006/relationships/slide" Target="/ppt/slides/slide1.xml" Id="R41c2233165624e04" /><Relationship Type="http://schemas.openxmlformats.org/officeDocument/2006/relationships/slide" Target="/ppt/slides/slide2.xml" Id="Re50796cc54264b57" /><Relationship Type="http://schemas.openxmlformats.org/officeDocument/2006/relationships/slide" Target="/ppt/slides/slide3.xml" Id="R6d1318818d6a45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9aa6a4bade49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39eaea510e4b94" /><Relationship Type="http://schemas.openxmlformats.org/officeDocument/2006/relationships/notesMaster" Target="/ppt/notesMasters/notesMaster1.xml" Id="Ra0eb2a8aebe646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068aca8a3840be" /><Relationship Type="http://schemas.openxmlformats.org/officeDocument/2006/relationships/notesMaster" Target="/ppt/notesMasters/notesMaster1.xml" Id="R89df1866818b47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82cb46079f4dfc" /><Relationship Type="http://schemas.openxmlformats.org/officeDocument/2006/relationships/notesMaster" Target="/ppt/notesMasters/notesMaster1.xml" Id="R259851bdb3bc46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CodeAgent 3.0 Harness + GLM5.1 已经能支撑大多数日常编码，当前最明显的瓶颈是算力和等待时间。</a:t>
            </a:r>
          </a:p>
          <a:p xmlns:a="http://schemas.openxmlformats.org/drawingml/2006/main">
            <a:r>
              <a:t>以前可以靠多轮对话慢慢修正；现在每轮都很慢，而且越晚发现问题，影响范围越大。</a:t>
            </a:r>
          </a:p>
          <a:p xmlns:a="http://schemas.openxmlformats.org/drawingml/2006/main">
            <a:r>
              <a:t>comet-mae 证明了流程有价值，但也暴露了长提示词无法保证 Agent 遵守。mae-flow 的方向是把流程从记忆问题改成程序控制问题。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这一页直接使用完整流程图，保留原图经过验证的信息层级和对齐方式，只把蓝色体系替换成与整套 PPT 一致的华为红、深灰和浅灰。</a:t>
            </a:r>
          </a:p>
          <a:p xmlns:a="http://schemas.openxmlformats.org/drawingml/2006/main">
            <a:r>
              <a:t>上方先确认环境、项目配置、开发方式和分支；中间分别展示新需求、修问题、小改动和评审返工；下方是所有代码改动共用的编译、精简、CodeCheck、UT 和需求对照检查。</a:t>
            </a:r>
          </a:p>
          <a:p xmlns:a="http://schemas.openxmlformats.org/drawingml/2006/main">
            <a:r>
              <a:t>右侧展示需求、设计和 UT 问题如何回流；最下方展示状态、任务卡、Hook、证据、用户裁决、增量返工和磁盘持久化。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mae-flow 的核心 skill 只保留 current → 执行 → done 这一条循环。流程本身由状态机解释，不再要求主模型记住全文。</a:t>
            </a:r>
          </a:p>
          <a:p xmlns:a="http://schemas.openxmlformats.org/drawingml/2006/main">
            <a:r>
              <a:t>Hook 是工具层门禁：提示词负责让 Agent 理解，Hook 负责在 Agent 忘记时真正拦住。</a:t>
            </a:r>
          </a:p>
          <a:p xmlns:a="http://schemas.openxmlformats.org/drawingml/2006/main">
            <a:r>
              <a:t>专项 Agent 用任务卡拿到范围、配置和命令；结果与当前代码绑定。遇到宿主兼容或判断分歧时，流程提供诊断、回退、人工裁决和退出通道，避免无限循环。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fe80fb95d47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677c9b31bf4c38" /><Relationship Type="http://schemas.openxmlformats.org/officeDocument/2006/relationships/slideLayout" Target="/ppt/slideLayouts/slideLayout1.xml" Id="R2104587ae67b4e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04587ae67b4e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c1bddb3964d37" /><Relationship Type="http://schemas.openxmlformats.org/officeDocument/2006/relationships/notesSlide" Target="/ppt/notesSlides/notesSlide1.xml" Id="R6e47874914e641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eb854103c43e7" /><Relationship Type="http://schemas.openxmlformats.org/officeDocument/2006/relationships/image" Target="/ppt/media/image.png" Id="R57da485caa7a40a6" /><Relationship Type="http://schemas.openxmlformats.org/officeDocument/2006/relationships/notesSlide" Target="/ppt/notesSlides/notesSlide2.xml" Id="R0310dcb82ce14b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6650166ff40fe" /><Relationship Type="http://schemas.openxmlformats.org/officeDocument/2006/relationships/notesSlide" Target="/ppt/notesSlides/notesSlide3.xml" Id="Rd4238c251ef84e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red-top-1">
            <a:extLst xmlns:a="http://schemas.openxmlformats.org/drawingml/2006/main">
              <a:ext uri="{FF2B5EF4-FFF2-40B4-BE49-F238E27FC236}">
                <a16:creationId xmlns:a16="http://schemas.microsoft.com/office/drawing/2014/main" id="{79B24011-4BB2-48C7-958A-F5AED3AA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" name="kicker-1">
            <a:extLst xmlns:a="http://schemas.openxmlformats.org/drawingml/2006/main">
              <a:ext uri="{FF2B5EF4-FFF2-40B4-BE49-F238E27FC236}">
                <a16:creationId xmlns:a16="http://schemas.microsoft.com/office/drawing/2014/main" id="{85B72681-FE5C-47A9-B7BA-E6C58CE3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MAE-FLOW · 分享背景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65137F85-88BC-4CFC-B0EE-4123FC64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在算力匮乏的黄区，最重要的是尽量一次写对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CEFF76B1-4457-42A9-880B-209C6724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模型和 Harness 已经能写代码，真正昂贵的是反复沟通、反复改、反复验证</a:t>
            </a:r>
          </a:p>
        </p:txBody>
      </p:sp>
      <p:sp>
        <p:nvSpPr>
          <p:cNvPr id="5" name="page-1">
            <a:extLst xmlns:a="http://schemas.openxmlformats.org/drawingml/2006/main">
              <a:ext uri="{FF2B5EF4-FFF2-40B4-BE49-F238E27FC236}">
                <a16:creationId xmlns:a16="http://schemas.microsoft.com/office/drawing/2014/main" id="{2DDE68E8-093B-4814-ABEB-FD6676A8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old-loop-title">
            <a:extLst xmlns:a="http://schemas.openxmlformats.org/drawingml/2006/main">
              <a:ext uri="{FF2B5EF4-FFF2-40B4-BE49-F238E27FC236}">
                <a16:creationId xmlns:a16="http://schemas.microsoft.com/office/drawing/2014/main" id="{FF615FA8-E092-4E21-91BE-5CDBAD9F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95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原来的开发方式</a:t>
            </a:r>
          </a:p>
        </p:txBody>
      </p:sp>
      <p:sp>
        <p:nvSpPr>
          <p:cNvPr id="7" name="old-loop-sub">
            <a:extLst xmlns:a="http://schemas.openxmlformats.org/drawingml/2006/main">
              <a:ext uri="{FF2B5EF4-FFF2-40B4-BE49-F238E27FC236}">
                <a16:creationId xmlns:a16="http://schemas.microsoft.com/office/drawing/2014/main" id="{769C339D-F76D-47F0-93F3-DDB3F1E4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0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简单描述需求，然后靠多轮对话一点点修正</a:t>
            </a:r>
          </a:p>
        </p:txBody>
      </p:sp>
      <p:sp>
        <p:nvSpPr>
          <p:cNvPr id="8" name="loop-0">
            <a:extLst xmlns:a="http://schemas.openxmlformats.org/drawingml/2006/main">
              <a:ext uri="{FF2B5EF4-FFF2-40B4-BE49-F238E27FC236}">
                <a16:creationId xmlns:a16="http://schemas.microsoft.com/office/drawing/2014/main" id="{EE9A08FC-4E51-4DE1-A7CC-452DC2ED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17907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7D9DC"/>
            </a:solidFill>
            <a:prstDash val="solid"/>
          </a:ln>
        </p:spPr>
      </p:sp>
      <p:sp>
        <p:nvSpPr>
          <p:cNvPr id="9" name="loop-no-0">
            <a:extLst xmlns:a="http://schemas.openxmlformats.org/drawingml/2006/main">
              <a:ext uri="{FF2B5EF4-FFF2-40B4-BE49-F238E27FC236}">
                <a16:creationId xmlns:a16="http://schemas.microsoft.com/office/drawing/2014/main" id="{4FC05F3E-9C8B-446A-A6E3-DB758AA6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10" name="loop-num-0">
            <a:extLst xmlns:a="http://schemas.openxmlformats.org/drawingml/2006/main">
              <a:ext uri="{FF2B5EF4-FFF2-40B4-BE49-F238E27FC236}">
                <a16:creationId xmlns:a16="http://schemas.microsoft.com/office/drawing/2014/main" id="{949E7158-442C-45F5-A15C-744B867D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4683C92A-EC25-4226-9C01-D26BF70E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简单描述</a:t>
            </a:r>
          </a:p>
        </p:txBody>
      </p:sp>
      <p:sp>
        <p:nvSpPr>
          <p:cNvPr id="12" name="loop-desc-0">
            <a:extLst xmlns:a="http://schemas.openxmlformats.org/drawingml/2006/main">
              <a:ext uri="{FF2B5EF4-FFF2-40B4-BE49-F238E27FC236}">
                <a16:creationId xmlns:a16="http://schemas.microsoft.com/office/drawing/2014/main" id="{F542BB68-0ABD-4DF4-AA3A-FDC4A3DB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先让 AI 开始写</a:t>
            </a:r>
          </a:p>
        </p:txBody>
      </p:sp>
      <p:sp>
        <p:nvSpPr>
          <p:cNvPr id="13" name="loop-1">
            <a:extLst xmlns:a="http://schemas.openxmlformats.org/drawingml/2006/main">
              <a:ext uri="{FF2B5EF4-FFF2-40B4-BE49-F238E27FC236}">
                <a16:creationId xmlns:a16="http://schemas.microsoft.com/office/drawing/2014/main" id="{5025D131-D1B2-402B-BB2B-A357C90F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38375"/>
            <a:ext cx="17907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7D9DC"/>
            </a:solidFill>
            <a:prstDash val="solid"/>
          </a:ln>
        </p:spPr>
      </p:sp>
      <p:sp>
        <p:nvSpPr>
          <p:cNvPr id="14" name="loop-no-1">
            <a:extLst xmlns:a="http://schemas.openxmlformats.org/drawingml/2006/main">
              <a:ext uri="{FF2B5EF4-FFF2-40B4-BE49-F238E27FC236}">
                <a16:creationId xmlns:a16="http://schemas.microsoft.com/office/drawing/2014/main" id="{CA508C64-1193-4EC8-B3D9-E1D851A8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717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15" name="loop-num-1">
            <a:extLst xmlns:a="http://schemas.openxmlformats.org/drawingml/2006/main">
              <a:ext uri="{FF2B5EF4-FFF2-40B4-BE49-F238E27FC236}">
                <a16:creationId xmlns:a16="http://schemas.microsoft.com/office/drawing/2014/main" id="{68356F3A-55E8-48DF-A0E1-287E005F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6C55DCE8-988B-409F-A85C-8F11ABEE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526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快速出代码</a:t>
            </a:r>
          </a:p>
        </p:txBody>
      </p:sp>
      <p:sp>
        <p:nvSpPr>
          <p:cNvPr id="17" name="loop-desc-1">
            <a:extLst xmlns:a="http://schemas.openxmlformats.org/drawingml/2006/main">
              <a:ext uri="{FF2B5EF4-FFF2-40B4-BE49-F238E27FC236}">
                <a16:creationId xmlns:a16="http://schemas.microsoft.com/office/drawing/2014/main" id="{E46C00EC-F56F-495F-A7DF-C7A5BB2C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336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看起来已经做了很多</a:t>
            </a:r>
          </a:p>
        </p:txBody>
      </p:sp>
      <p:sp>
        <p:nvSpPr>
          <p:cNvPr id="18" name="loop-2">
            <a:extLst xmlns:a="http://schemas.openxmlformats.org/drawingml/2006/main">
              <a:ext uri="{FF2B5EF4-FFF2-40B4-BE49-F238E27FC236}">
                <a16:creationId xmlns:a16="http://schemas.microsoft.com/office/drawing/2014/main" id="{67329D5B-B7CA-43A2-8220-92A9B3BF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76625"/>
            <a:ext cx="17907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9" name="loop-no-2">
            <a:extLst xmlns:a="http://schemas.openxmlformats.org/drawingml/2006/main">
              <a:ext uri="{FF2B5EF4-FFF2-40B4-BE49-F238E27FC236}">
                <a16:creationId xmlns:a16="http://schemas.microsoft.com/office/drawing/2014/main" id="{07AFE012-658D-4BF7-8172-B25C53E1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099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0" name="loop-num-2">
            <a:extLst xmlns:a="http://schemas.openxmlformats.org/drawingml/2006/main">
              <a:ext uri="{FF2B5EF4-FFF2-40B4-BE49-F238E27FC236}">
                <a16:creationId xmlns:a16="http://schemas.microsoft.com/office/drawing/2014/main" id="{27FA2C65-1855-4580-8DD8-E0C8EB9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385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5F402919-3C6D-497A-B71D-9C7D1498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909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发现偏差</a:t>
            </a:r>
          </a:p>
        </p:txBody>
      </p:sp>
      <p:sp>
        <p:nvSpPr>
          <p:cNvPr id="22" name="loop-desc-2">
            <a:extLst xmlns:a="http://schemas.openxmlformats.org/drawingml/2006/main">
              <a:ext uri="{FF2B5EF4-FFF2-40B4-BE49-F238E27FC236}">
                <a16:creationId xmlns:a16="http://schemas.microsoft.com/office/drawing/2014/main" id="{1DB2CE20-484C-46C3-BA84-03967E79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719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边界、实现、测试不符合预期</a:t>
            </a:r>
          </a:p>
        </p:txBody>
      </p:sp>
      <p:sp>
        <p:nvSpPr>
          <p:cNvPr id="23" name="loop-3">
            <a:extLst xmlns:a="http://schemas.openxmlformats.org/drawingml/2006/main">
              <a:ext uri="{FF2B5EF4-FFF2-40B4-BE49-F238E27FC236}">
                <a16:creationId xmlns:a16="http://schemas.microsoft.com/office/drawing/2014/main" id="{99AEFD21-3D0D-4059-AA0C-5F109513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7907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loop-no-3">
            <a:extLst xmlns:a="http://schemas.openxmlformats.org/drawingml/2006/main">
              <a:ext uri="{FF2B5EF4-FFF2-40B4-BE49-F238E27FC236}">
                <a16:creationId xmlns:a16="http://schemas.microsoft.com/office/drawing/2014/main" id="{A307D556-3128-47AF-BCAD-6F18F4BE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5" name="loop-num-3">
            <a:extLst xmlns:a="http://schemas.openxmlformats.org/drawingml/2006/main">
              <a:ext uri="{FF2B5EF4-FFF2-40B4-BE49-F238E27FC236}">
                <a16:creationId xmlns:a16="http://schemas.microsoft.com/office/drawing/2014/main" id="{1B95270B-D48C-486E-8FE4-97EAEA7D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AB8DDB6E-F0F7-462F-8956-7987DFDD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继续返工</a:t>
            </a:r>
          </a:p>
        </p:txBody>
      </p:sp>
      <p:sp>
        <p:nvSpPr>
          <p:cNvPr id="27" name="loop-desc-3">
            <a:extLst xmlns:a="http://schemas.openxmlformats.org/drawingml/2006/main">
              <a:ext uri="{FF2B5EF4-FFF2-40B4-BE49-F238E27FC236}">
                <a16:creationId xmlns:a16="http://schemas.microsoft.com/office/drawing/2014/main" id="{86522710-438F-4AA6-B36D-3B2D4AFA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上下文更长，修改范围更大</a:t>
            </a:r>
          </a:p>
        </p:txBody>
      </p:sp>
      <p:cxnSp>
        <p:nvCxnSpPr>
          <p:cNvPr id="94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05050" y="26955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075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448050" y="315277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18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2305050" y="39338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23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1409700" y="315277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prstDash val="dash"/>
            <a:tailEnd type="triangle" w="sm" len="sm"/>
          </a:ln>
        </p:spPr>
      </p:cxnSp>
      <p:sp>
        <p:nvSpPr>
          <p:cNvPr id="32" name="time-cost">
            <a:extLst xmlns:a="http://schemas.openxmlformats.org/drawingml/2006/main">
              <a:ext uri="{FF2B5EF4-FFF2-40B4-BE49-F238E27FC236}">
                <a16:creationId xmlns:a16="http://schemas.microsoft.com/office/drawing/2014/main" id="{C7D15FD2-EA97-4769-B13C-98D7D95B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8290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3" name="time-cost-main">
            <a:extLst xmlns:a="http://schemas.openxmlformats.org/drawingml/2006/main">
              <a:ext uri="{FF2B5EF4-FFF2-40B4-BE49-F238E27FC236}">
                <a16:creationId xmlns:a16="http://schemas.microsoft.com/office/drawing/2014/main" id="{45B34D29-5B46-467B-A011-07145EDD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一次需求：2–3 小时  →  1–2 天</a:t>
            </a:r>
          </a:p>
        </p:txBody>
      </p:sp>
      <p:sp>
        <p:nvSpPr>
          <p:cNvPr id="34" name="time-cost-sub">
            <a:extLst xmlns:a="http://schemas.openxmlformats.org/drawingml/2006/main">
              <a:ext uri="{FF2B5EF4-FFF2-40B4-BE49-F238E27FC236}">
                <a16:creationId xmlns:a16="http://schemas.microsoft.com/office/drawing/2014/main" id="{519954F9-C1B6-4C1B-B9B4-9DF2E3B5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3486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每轮更慢，越到后面发现问题，返工范围越大</a:t>
            </a:r>
          </a:p>
        </p:txBody>
      </p:sp>
      <p:sp>
        <p:nvSpPr>
          <p:cNvPr id="35" name="evolution-title">
            <a:extLst xmlns:a="http://schemas.openxmlformats.org/drawingml/2006/main">
              <a:ext uri="{FF2B5EF4-FFF2-40B4-BE49-F238E27FC236}">
                <a16:creationId xmlns:a16="http://schemas.microsoft.com/office/drawing/2014/main" id="{157FD256-371B-4401-B69D-9A4537B4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95425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真正需要升级的不是模型，而是开发方式</a:t>
            </a:r>
          </a:p>
        </p:txBody>
      </p:sp>
      <p:sp>
        <p:nvSpPr>
          <p:cNvPr id="36" name="evolution-sub">
            <a:extLst xmlns:a="http://schemas.openxmlformats.org/drawingml/2006/main">
              <a:ext uri="{FF2B5EF4-FFF2-40B4-BE49-F238E27FC236}">
                <a16:creationId xmlns:a16="http://schemas.microsoft.com/office/drawing/2014/main" id="{38F4C83A-6F7A-42A2-983B-4103B04D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022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从“靠提示词提醒”走到“由程序记录、检查并推动流程”</a:t>
            </a:r>
          </a:p>
        </p:txBody>
      </p:sp>
      <p:sp>
        <p:nvSpPr>
          <p:cNvPr id="37" name="evo-1">
            <a:extLst xmlns:a="http://schemas.openxmlformats.org/drawingml/2006/main">
              <a:ext uri="{FF2B5EF4-FFF2-40B4-BE49-F238E27FC236}">
                <a16:creationId xmlns:a16="http://schemas.microsoft.com/office/drawing/2014/main" id="{336AA53D-9EB1-4FE0-8D37-9EAEB90D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38375"/>
            <a:ext cx="19812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7D9DC"/>
            </a:solidFill>
            <a:prstDash val="solid"/>
          </a:ln>
        </p:spPr>
      </p:sp>
      <p:sp>
        <p:nvSpPr>
          <p:cNvPr id="38" name="evo-2">
            <a:extLst xmlns:a="http://schemas.openxmlformats.org/drawingml/2006/main">
              <a:ext uri="{FF2B5EF4-FFF2-40B4-BE49-F238E27FC236}">
                <a16:creationId xmlns:a16="http://schemas.microsoft.com/office/drawing/2014/main" id="{DBD4710B-8BE0-4BB2-85B4-67898596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38375"/>
            <a:ext cx="19812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9" name="evo-3">
            <a:extLst xmlns:a="http://schemas.openxmlformats.org/drawingml/2006/main">
              <a:ext uri="{FF2B5EF4-FFF2-40B4-BE49-F238E27FC236}">
                <a16:creationId xmlns:a16="http://schemas.microsoft.com/office/drawing/2014/main" id="{F4ED640A-49C1-40F8-8B02-C86A0C5A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19812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10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858000" y="2914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9182100" y="2914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42" name="e1-tag">
            <a:extLst xmlns:a="http://schemas.openxmlformats.org/drawingml/2006/main">
              <a:ext uri="{FF2B5EF4-FFF2-40B4-BE49-F238E27FC236}">
                <a16:creationId xmlns:a16="http://schemas.microsoft.com/office/drawing/2014/main" id="{1738E01D-2A37-4125-9F7E-87F02053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907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COMET-MAE</a:t>
            </a:r>
          </a:p>
        </p:txBody>
      </p:sp>
      <p:sp>
        <p:nvSpPr>
          <p:cNvPr id="43" name="e1-title">
            <a:extLst xmlns:a="http://schemas.openxmlformats.org/drawingml/2006/main">
              <a:ext uri="{FF2B5EF4-FFF2-40B4-BE49-F238E27FC236}">
                <a16:creationId xmlns:a16="http://schemas.microsoft.com/office/drawing/2014/main" id="{7313AF2E-DF42-42D9-A7D1-085F9097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65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把经验写进 Skill</a:t>
            </a:r>
          </a:p>
        </p:txBody>
      </p:sp>
      <p:sp>
        <p:nvSpPr>
          <p:cNvPr id="44" name="e1-body">
            <a:extLst xmlns:a="http://schemas.openxmlformats.org/drawingml/2006/main">
              <a:ext uri="{FF2B5EF4-FFF2-40B4-BE49-F238E27FC236}">
                <a16:creationId xmlns:a16="http://schemas.microsoft.com/office/drawing/2014/main" id="{31CA34F6-4A3B-4F8E-8453-8363388F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3847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流程有效，但 Agent 需要记住整篇提示词。</a:t>
            </a:r>
          </a:p>
        </p:txBody>
      </p:sp>
      <p:sp>
        <p:nvSpPr>
          <p:cNvPr id="45" name="e2-tag">
            <a:extLst xmlns:a="http://schemas.openxmlformats.org/drawingml/2006/main">
              <a:ext uri="{FF2B5EF4-FFF2-40B4-BE49-F238E27FC236}">
                <a16:creationId xmlns:a16="http://schemas.microsoft.com/office/drawing/2014/main" id="{A2872083-F363-467E-8521-752688C4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907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暴露的问题</a:t>
            </a:r>
          </a:p>
        </p:txBody>
      </p:sp>
      <p:sp>
        <p:nvSpPr>
          <p:cNvPr id="46" name="e2-title">
            <a:extLst xmlns:a="http://schemas.openxmlformats.org/drawingml/2006/main">
              <a:ext uri="{FF2B5EF4-FFF2-40B4-BE49-F238E27FC236}">
                <a16:creationId xmlns:a16="http://schemas.microsoft.com/office/drawing/2014/main" id="{090748C6-B71B-420E-BF69-662D6FE8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765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长流程里经常忘</a:t>
            </a:r>
          </a:p>
        </p:txBody>
      </p:sp>
      <p:sp>
        <p:nvSpPr>
          <p:cNvPr id="47" name="e2-body">
            <a:extLst xmlns:a="http://schemas.openxmlformats.org/drawingml/2006/main">
              <a:ext uri="{FF2B5EF4-FFF2-40B4-BE49-F238E27FC236}">
                <a16:creationId xmlns:a16="http://schemas.microsoft.com/office/drawing/2014/main" id="{3C4049BC-3A7A-4E4E-AF00-78520E7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不提问、乱找文档、漏写 Story、提交不合规。</a:t>
            </a:r>
          </a:p>
        </p:txBody>
      </p:sp>
      <p:sp>
        <p:nvSpPr>
          <p:cNvPr id="48" name="e3-tag">
            <a:extLst xmlns:a="http://schemas.openxmlformats.org/drawingml/2006/main">
              <a:ext uri="{FF2B5EF4-FFF2-40B4-BE49-F238E27FC236}">
                <a16:creationId xmlns:a16="http://schemas.microsoft.com/office/drawing/2014/main" id="{23D21195-2096-49B9-8B4D-C7374993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907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MAE-FLOW</a:t>
            </a:r>
          </a:p>
        </p:txBody>
      </p:sp>
      <p:sp>
        <p:nvSpPr>
          <p:cNvPr id="49" name="e3-title">
            <a:extLst xmlns:a="http://schemas.openxmlformats.org/drawingml/2006/main">
              <a:ext uri="{FF2B5EF4-FFF2-40B4-BE49-F238E27FC236}">
                <a16:creationId xmlns:a16="http://schemas.microsoft.com/office/drawing/2014/main" id="{639070CA-E2E8-4D5F-9A64-AAAAC9CA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765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让状态机接管流程</a:t>
            </a:r>
          </a:p>
        </p:txBody>
      </p:sp>
      <p:sp>
        <p:nvSpPr>
          <p:cNvPr id="50" name="e3-body">
            <a:extLst xmlns:a="http://schemas.openxmlformats.org/drawingml/2006/main">
              <a:ext uri="{FF2B5EF4-FFF2-40B4-BE49-F238E27FC236}">
                <a16:creationId xmlns:a16="http://schemas.microsoft.com/office/drawing/2014/main" id="{2DF4BCE9-4919-4B30-AF0B-40A2976E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3847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每次只加载当前一步，用实际结果换下一步。</a:t>
            </a:r>
          </a:p>
        </p:txBody>
      </p:sp>
      <p:sp>
        <p:nvSpPr>
          <p:cNvPr id="51" name="thesis">
            <a:extLst xmlns:a="http://schemas.openxmlformats.org/drawingml/2006/main">
              <a:ext uri="{FF2B5EF4-FFF2-40B4-BE49-F238E27FC236}">
                <a16:creationId xmlns:a16="http://schemas.microsoft.com/office/drawing/2014/main" id="{33993CAB-019B-400E-A451-E1782899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76675"/>
            <a:ext cx="66294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52" name="thesis-q">
            <a:extLst xmlns:a="http://schemas.openxmlformats.org/drawingml/2006/main">
              <a:ext uri="{FF2B5EF4-FFF2-40B4-BE49-F238E27FC236}">
                <a16:creationId xmlns:a16="http://schemas.microsoft.com/office/drawing/2014/main" id="{3A8E5193-3F67-4CE0-BCBD-D1A9FF77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48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9D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9DA3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53" name="thesis-main">
            <a:extLst xmlns:a="http://schemas.openxmlformats.org/drawingml/2006/main">
              <a:ext uri="{FF2B5EF4-FFF2-40B4-BE49-F238E27FC236}">
                <a16:creationId xmlns:a16="http://schemas.microsoft.com/office/drawing/2014/main" id="{2750C7F6-B4FC-4199-8B86-C7884D10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24350"/>
            <a:ext cx="617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算力越紧张，越不能把澄清和设计留到编码之后。</a:t>
            </a:r>
          </a:p>
        </p:txBody>
      </p:sp>
      <p:sp>
        <p:nvSpPr>
          <p:cNvPr id="54" name="metric-comet-mae 下架前下载量">
            <a:extLst xmlns:a="http://schemas.openxmlformats.org/drawingml/2006/main">
              <a:ext uri="{FF2B5EF4-FFF2-40B4-BE49-F238E27FC236}">
                <a16:creationId xmlns:a16="http://schemas.microsoft.com/office/drawing/2014/main" id="{EFF95A9D-4BD0-4415-8DA9-E6ECA94A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57775"/>
            <a:ext cx="2038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metric-v-comet-mae 下架前下载量">
            <a:extLst xmlns:a="http://schemas.openxmlformats.org/drawingml/2006/main">
              <a:ext uri="{FF2B5EF4-FFF2-40B4-BE49-F238E27FC236}">
                <a16:creationId xmlns:a16="http://schemas.microsoft.com/office/drawing/2014/main" id="{2B97F10D-D0B2-44BE-8FB2-0D2377F0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33975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60+</a:t>
            </a:r>
          </a:p>
        </p:txBody>
      </p:sp>
      <p:sp>
        <p:nvSpPr>
          <p:cNvPr id="56" name="metric-l-comet-mae 下架前下载量">
            <a:extLst xmlns:a="http://schemas.openxmlformats.org/drawingml/2006/main">
              <a:ext uri="{FF2B5EF4-FFF2-40B4-BE49-F238E27FC236}">
                <a16:creationId xmlns:a16="http://schemas.microsoft.com/office/drawing/2014/main" id="{EFE42D97-FEA5-4DA7-80D0-A9CD7988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3877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comet-mae 下架前下载量</a:t>
            </a:r>
          </a:p>
        </p:txBody>
      </p:sp>
      <p:sp>
        <p:nvSpPr>
          <p:cNvPr id="57" name="metric-PI1 已实践需求">
            <a:extLst xmlns:a="http://schemas.openxmlformats.org/drawingml/2006/main">
              <a:ext uri="{FF2B5EF4-FFF2-40B4-BE49-F238E27FC236}">
                <a16:creationId xmlns:a16="http://schemas.microsoft.com/office/drawing/2014/main" id="{BF287BAD-D34F-416E-B7D7-05D22F10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57775"/>
            <a:ext cx="2038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metric-v-PI1 已实践需求">
            <a:extLst xmlns:a="http://schemas.openxmlformats.org/drawingml/2006/main">
              <a:ext uri="{FF2B5EF4-FFF2-40B4-BE49-F238E27FC236}">
                <a16:creationId xmlns:a16="http://schemas.microsoft.com/office/drawing/2014/main" id="{D19C26AF-E19A-482B-B9F2-2CF0CA8C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33975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5 个</a:t>
            </a:r>
          </a:p>
        </p:txBody>
      </p:sp>
      <p:sp>
        <p:nvSpPr>
          <p:cNvPr id="59" name="metric-l-PI1 已实践需求">
            <a:extLst xmlns:a="http://schemas.openxmlformats.org/drawingml/2006/main">
              <a:ext uri="{FF2B5EF4-FFF2-40B4-BE49-F238E27FC236}">
                <a16:creationId xmlns:a16="http://schemas.microsoft.com/office/drawing/2014/main" id="{FE058C3C-A763-4545-9179-5C42F12C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3877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PI1 已实践需求</a:t>
            </a:r>
          </a:p>
        </p:txBody>
      </p:sp>
      <p:sp>
        <p:nvSpPr>
          <p:cNvPr id="60" name="metric-已完成交付">
            <a:extLst xmlns:a="http://schemas.openxmlformats.org/drawingml/2006/main">
              <a:ext uri="{FF2B5EF4-FFF2-40B4-BE49-F238E27FC236}">
                <a16:creationId xmlns:a16="http://schemas.microsoft.com/office/drawing/2014/main" id="{35749807-7EA8-4AB0-934A-E74CB7C1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57775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metric-v-已完成交付">
            <a:extLst xmlns:a="http://schemas.openxmlformats.org/drawingml/2006/main">
              <a:ext uri="{FF2B5EF4-FFF2-40B4-BE49-F238E27FC236}">
                <a16:creationId xmlns:a16="http://schemas.microsoft.com/office/drawing/2014/main" id="{BAB8B31B-4921-4EC8-9987-356B9B6A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339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 个</a:t>
            </a:r>
          </a:p>
        </p:txBody>
      </p:sp>
      <p:sp>
        <p:nvSpPr>
          <p:cNvPr id="62" name="metric-l-已完成交付">
            <a:extLst xmlns:a="http://schemas.openxmlformats.org/drawingml/2006/main">
              <a:ext uri="{FF2B5EF4-FFF2-40B4-BE49-F238E27FC236}">
                <a16:creationId xmlns:a16="http://schemas.microsoft.com/office/drawing/2014/main" id="{87161F8F-97A6-42A2-B2D1-B502E682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4387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已完成交付</a:t>
            </a:r>
          </a:p>
        </p:txBody>
      </p:sp>
      <p:sp>
        <p:nvSpPr>
          <p:cNvPr id="63" name="bottom-claim-1">
            <a:extLst xmlns:a="http://schemas.openxmlformats.org/drawingml/2006/main">
              <a:ext uri="{FF2B5EF4-FFF2-40B4-BE49-F238E27FC236}">
                <a16:creationId xmlns:a16="http://schemas.microsoft.com/office/drawing/2014/main" id="{91F1D468-DB95-434A-AA94-E1C9B1E8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F5F6F7"/>
            </a:solidFill>
            <a:prstDash val="solid"/>
          </a:ln>
        </p:spPr>
      </p:sp>
      <p:sp>
        <p:nvSpPr>
          <p:cNvPr id="64" name="bottom-red-1">
            <a:extLst xmlns:a="http://schemas.openxmlformats.org/drawingml/2006/main">
              <a:ext uri="{FF2B5EF4-FFF2-40B4-BE49-F238E27FC236}">
                <a16:creationId xmlns:a16="http://schemas.microsoft.com/office/drawing/2014/main" id="{241F2138-146A-4641-964B-9B416A8C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65" name="bottom-main-1">
            <a:extLst xmlns:a="http://schemas.openxmlformats.org/drawingml/2006/main">
              <a:ext uri="{FF2B5EF4-FFF2-40B4-BE49-F238E27FC236}">
                <a16:creationId xmlns:a16="http://schemas.microsoft.com/office/drawing/2014/main" id="{6F2F04B9-7D17-486E-ADC2-2AEA9EDD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目标不是少写几行提示词，而是让每一步都能留下可复用、可校验、能接着跑的结果。</a:t>
            </a:r>
          </a:p>
        </p:txBody>
      </p:sp>
      <p:sp>
        <p:nvSpPr>
          <p:cNvPr id="66" name="bottom-sub-1">
            <a:extLst xmlns:a="http://schemas.openxmlformats.org/drawingml/2006/main">
              <a:ext uri="{FF2B5EF4-FFF2-40B4-BE49-F238E27FC236}">
                <a16:creationId xmlns:a16="http://schemas.microsoft.com/office/drawing/2014/main" id="{69E32AE7-2A4A-4D5D-A381-1FAA9553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865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把返工前置成澄清、设计和检查，才有可能在黄区仍然把一次开发做完整。</a:t>
            </a:r>
          </a:p>
        </p:txBody>
      </p:sp>
    </p:spTree>
    <p:extLst>
      <p:ext uri="{BB962C8B-B14F-4D97-AF65-F5344CB8AC3E}">
        <p14:creationId xmlns:p14="http://schemas.microsoft.com/office/powerpoint/2010/main" val="2072651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a485caa7a40a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8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red-top-3">
            <a:extLst xmlns:a="http://schemas.openxmlformats.org/drawingml/2006/main">
              <a:ext uri="{FF2B5EF4-FFF2-40B4-BE49-F238E27FC236}">
                <a16:creationId xmlns:a16="http://schemas.microsoft.com/office/drawing/2014/main" id="{5D0A6FD7-7BC4-46C7-94F4-A911AC09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82E4A909-1521-4E49-BE1A-AEC66B8C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MAE-FLOW · HARNESS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D4235B9E-4016-4A8C-B1E4-5FF8D7D2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真正让流程稳定的，不是更长的提示词，而是程序约束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528DD0DE-633B-46BA-97F9-1051EB1C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提示词告诉 Agent 应该怎么做；状态机和 Hook 确保忘了以后也不能直接越过去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52DFE81F-E142-467E-8AE2-4AA59B8C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agent-loop-bg">
            <a:extLst xmlns:a="http://schemas.openxmlformats.org/drawingml/2006/main">
              <a:ext uri="{FF2B5EF4-FFF2-40B4-BE49-F238E27FC236}">
                <a16:creationId xmlns:a16="http://schemas.microsoft.com/office/drawing/2014/main" id="{28990940-15BA-4A61-8C6D-D2C2863D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2914650" cy="4476750"/>
          </a:xfrm>
          <a:prstGeom xmlns:a="http://schemas.openxmlformats.org/drawingml/2006/main" prst="roundRect">
            <a:avLst>
              <a:gd name="adj" fmla="val 1307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7" name="agent-loop-label">
            <a:extLst xmlns:a="http://schemas.openxmlformats.org/drawingml/2006/main">
              <a:ext uri="{FF2B5EF4-FFF2-40B4-BE49-F238E27FC236}">
                <a16:creationId xmlns:a16="http://schemas.microsoft.com/office/drawing/2014/main" id="{2AC374CD-6726-4647-B10A-890D829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D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9DA3"/>
                </a:solidFill>
                <a:latin typeface="Microsoft YaHei"/>
                <a:ea typeface="Microsoft YaHei"/>
                <a:cs typeface="Microsoft YaHei"/>
              </a:rPr>
              <a:t>主 Agent 只需要记住一个循环</a:t>
            </a:r>
          </a:p>
        </p:txBody>
      </p:sp>
      <p:sp>
        <p:nvSpPr>
          <p:cNvPr id="8" name="agent-loop-title">
            <a:extLst xmlns:a="http://schemas.openxmlformats.org/drawingml/2006/main">
              <a:ext uri="{FF2B5EF4-FFF2-40B4-BE49-F238E27FC236}">
                <a16:creationId xmlns:a16="http://schemas.microsoft.com/office/drawing/2014/main" id="{2D25958A-62FB-4CFA-AA0E-71C13F99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current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执行当前指令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F10F5-4CA3-4F17-80C3-A4D113C1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065"/>
            </a:solidFill>
            <a:prstDash val="solid"/>
          </a:ln>
        </p:spPr>
      </p:sp>
      <p:sp>
        <p:nvSpPr>
          <p:cNvPr id="10" name="agent-loop-code">
            <a:extLst xmlns:a="http://schemas.openxmlformats.org/drawingml/2006/main">
              <a:ext uri="{FF2B5EF4-FFF2-40B4-BE49-F238E27FC236}">
                <a16:creationId xmlns:a16="http://schemas.microsoft.com/office/drawing/2014/main" id="{0C137982-0DB4-418B-8610-21D86310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状态写到磁盘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清空上下文 / 终端重启 / 换会话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都可以从当前步骤继续</a:t>
            </a:r>
          </a:p>
        </p:txBody>
      </p:sp>
      <p:sp>
        <p:nvSpPr>
          <p:cNvPr id="11" name="agent-loop-chip">
            <a:extLst xmlns:a="http://schemas.openxmlformats.org/drawingml/2006/main">
              <a:ext uri="{FF2B5EF4-FFF2-40B4-BE49-F238E27FC236}">
                <a16:creationId xmlns:a16="http://schemas.microsoft.com/office/drawing/2014/main" id="{9511A65B-4985-46D8-B854-E8CA4473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24003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2" name="agent-loop-chip-text">
            <a:extLst xmlns:a="http://schemas.openxmlformats.org/drawingml/2006/main">
              <a:ext uri="{FF2B5EF4-FFF2-40B4-BE49-F238E27FC236}">
                <a16:creationId xmlns:a16="http://schemas.microsoft.com/office/drawing/2014/main" id="{FB878D6B-2969-4E92-8131-C4207D0C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模型只把眼前这一步做好</a:t>
            </a:r>
          </a:p>
        </p:txBody>
      </p:sp>
      <p:sp>
        <p:nvSpPr>
          <p:cNvPr id="13" name="arch-title">
            <a:extLst xmlns:a="http://schemas.openxmlformats.org/drawingml/2006/main">
              <a:ext uri="{FF2B5EF4-FFF2-40B4-BE49-F238E27FC236}">
                <a16:creationId xmlns:a16="http://schemas.microsoft.com/office/drawing/2014/main" id="{B1D652D2-AEC2-4EB5-B811-1184D0D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43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四层约束，把“应该做”变成“做不到就过不去”</a:t>
            </a:r>
          </a:p>
        </p:txBody>
      </p:sp>
      <p:sp>
        <p:nvSpPr>
          <p:cNvPr id="14" name="layer-0">
            <a:extLst xmlns:a="http://schemas.openxmlformats.org/drawingml/2006/main">
              <a:ext uri="{FF2B5EF4-FFF2-40B4-BE49-F238E27FC236}">
                <a16:creationId xmlns:a16="http://schemas.microsoft.com/office/drawing/2014/main" id="{B2EA1B88-7431-4DDA-AC86-6B5FFE90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81200"/>
            <a:ext cx="502920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7D9DC"/>
            </a:solidFill>
            <a:prstDash val="solid"/>
          </a:ln>
        </p:spPr>
      </p:sp>
      <p:sp>
        <p:nvSpPr>
          <p:cNvPr id="15" name="layer-no-bg-0">
            <a:extLst xmlns:a="http://schemas.openxmlformats.org/drawingml/2006/main">
              <a:ext uri="{FF2B5EF4-FFF2-40B4-BE49-F238E27FC236}">
                <a16:creationId xmlns:a16="http://schemas.microsoft.com/office/drawing/2014/main" id="{8AA4C4AC-A13E-4675-AA73-71D5B9A9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33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16" name="layer-no-0">
            <a:extLst xmlns:a="http://schemas.openxmlformats.org/drawingml/2006/main">
              <a:ext uri="{FF2B5EF4-FFF2-40B4-BE49-F238E27FC236}">
                <a16:creationId xmlns:a16="http://schemas.microsoft.com/office/drawing/2014/main" id="{56C48C07-8AB4-4E1A-8452-F2ECB98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193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55D75683-0D92-440C-AFD3-6A3F93EE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050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状态机</a:t>
            </a:r>
          </a:p>
        </p:txBody>
      </p:sp>
      <p:sp>
        <p:nvSpPr>
          <p:cNvPr id="18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0E58CD8F-A4DE-4A21-8251-C3C6EB4E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9077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0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043"/>
                </a:solidFill>
                <a:latin typeface="Microsoft YaHei"/>
                <a:ea typeface="Microsoft YaHei"/>
                <a:cs typeface="Microsoft YaHei"/>
              </a:rPr>
              <a:t>记录当前步骤、允许动作、完成条件和下一步；每次只加载当前提示词。</a:t>
            </a:r>
          </a:p>
        </p:txBody>
      </p:sp>
      <p:sp>
        <p:nvSpPr>
          <p:cNvPr id="19" name="layer-1">
            <a:extLst xmlns:a="http://schemas.openxmlformats.org/drawingml/2006/main">
              <a:ext uri="{FF2B5EF4-FFF2-40B4-BE49-F238E27FC236}">
                <a16:creationId xmlns:a16="http://schemas.microsoft.com/office/drawing/2014/main" id="{FAEF8A6B-79C9-45FD-BA75-C07237D6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43225"/>
            <a:ext cx="502920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0" name="layer-no-bg-1">
            <a:extLst xmlns:a="http://schemas.openxmlformats.org/drawingml/2006/main">
              <a:ext uri="{FF2B5EF4-FFF2-40B4-BE49-F238E27FC236}">
                <a16:creationId xmlns:a16="http://schemas.microsoft.com/office/drawing/2014/main" id="{B953EED1-3E11-430C-95D5-808C7017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1" name="layer-no-1">
            <a:extLst xmlns:a="http://schemas.openxmlformats.org/drawingml/2006/main">
              <a:ext uri="{FF2B5EF4-FFF2-40B4-BE49-F238E27FC236}">
                <a16:creationId xmlns:a16="http://schemas.microsoft.com/office/drawing/2014/main" id="{6A668D84-AE8A-463B-A393-7F450BDE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1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A718F41E-82F6-40D0-AD52-D96BDC8D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Hook</a:t>
            </a:r>
          </a:p>
        </p:txBody>
      </p:sp>
      <p:sp>
        <p:nvSpPr>
          <p:cNvPr id="23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DD261F2C-B0DA-45E5-8F48-EAE43454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0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043"/>
                </a:solidFill>
                <a:latin typeface="Microsoft YaHei"/>
                <a:ea typeface="Microsoft YaHei"/>
                <a:cs typeface="Microsoft YaHei"/>
              </a:rPr>
              <a:t>工具调用前拦越界改码和错误提交；对话、写文档、子 Agent 结束时自动校验。</a:t>
            </a:r>
          </a:p>
        </p:txBody>
      </p:sp>
      <p:sp>
        <p:nvSpPr>
          <p:cNvPr id="24" name="layer-2">
            <a:extLst xmlns:a="http://schemas.openxmlformats.org/drawingml/2006/main">
              <a:ext uri="{FF2B5EF4-FFF2-40B4-BE49-F238E27FC236}">
                <a16:creationId xmlns:a16="http://schemas.microsoft.com/office/drawing/2014/main" id="{C10821FC-D7FD-4F93-94CE-CE1E39C0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05250"/>
            <a:ext cx="502920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7D9DC"/>
            </a:solidFill>
            <a:prstDash val="solid"/>
          </a:ln>
        </p:spPr>
      </p:sp>
      <p:sp>
        <p:nvSpPr>
          <p:cNvPr id="25" name="layer-no-bg-2">
            <a:extLst xmlns:a="http://schemas.openxmlformats.org/drawingml/2006/main">
              <a:ext uri="{FF2B5EF4-FFF2-40B4-BE49-F238E27FC236}">
                <a16:creationId xmlns:a16="http://schemas.microsoft.com/office/drawing/2014/main" id="{74FBAFDC-75E2-4BFB-B824-1D4ABA22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576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26" name="layer-no-2">
            <a:extLst xmlns:a="http://schemas.openxmlformats.org/drawingml/2006/main">
              <a:ext uri="{FF2B5EF4-FFF2-40B4-BE49-F238E27FC236}">
                <a16:creationId xmlns:a16="http://schemas.microsoft.com/office/drawing/2014/main" id="{0BA0F0CA-1786-40F4-B1AF-61390D6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43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5FC328FD-4E9B-4A42-9272-A6B6C31E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290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任务卡 + 专项 Agent</a:t>
            </a:r>
          </a:p>
        </p:txBody>
      </p:sp>
      <p:sp>
        <p:nvSpPr>
          <p:cNvPr id="28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200F3C6A-4708-4C6B-AD4C-3BFCDF3F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0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043"/>
                </a:solidFill>
                <a:latin typeface="Microsoft YaHei"/>
                <a:ea typeface="Microsoft YaHei"/>
                <a:cs typeface="Microsoft YaHei"/>
              </a:rPr>
              <a:t>编译、CodeCheck、UT 接收明确范围、配置和命令；主会话不猜、不代工。</a:t>
            </a:r>
          </a:p>
        </p:txBody>
      </p:sp>
      <p:sp>
        <p:nvSpPr>
          <p:cNvPr id="29" name="layer-3">
            <a:extLst xmlns:a="http://schemas.openxmlformats.org/drawingml/2006/main">
              <a:ext uri="{FF2B5EF4-FFF2-40B4-BE49-F238E27FC236}">
                <a16:creationId xmlns:a16="http://schemas.microsoft.com/office/drawing/2014/main" id="{47E1117A-5B40-4F37-80DE-206C5F99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67275"/>
            <a:ext cx="502920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7D9DC"/>
            </a:solidFill>
            <a:prstDash val="solid"/>
          </a:ln>
        </p:spPr>
      </p:sp>
      <p:sp>
        <p:nvSpPr>
          <p:cNvPr id="30" name="layer-no-bg-3">
            <a:extLst xmlns:a="http://schemas.openxmlformats.org/drawingml/2006/main">
              <a:ext uri="{FF2B5EF4-FFF2-40B4-BE49-F238E27FC236}">
                <a16:creationId xmlns:a16="http://schemas.microsoft.com/office/drawing/2014/main" id="{92CF476A-C17C-4287-BCB3-C019B02A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96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31" name="layer-no-3">
            <a:extLst xmlns:a="http://schemas.openxmlformats.org/drawingml/2006/main">
              <a:ext uri="{FF2B5EF4-FFF2-40B4-BE49-F238E27FC236}">
                <a16:creationId xmlns:a16="http://schemas.microsoft.com/office/drawing/2014/main" id="{30635BC3-C6B0-4BD0-81F3-E08BCD6B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05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27ABF952-1E67-4B66-88DD-B37A5065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911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证据 + 恢复</a:t>
            </a:r>
          </a:p>
        </p:txBody>
      </p:sp>
      <p:sp>
        <p:nvSpPr>
          <p:cNvPr id="33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C68BFD14-6870-42EF-8A19-D50BD704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76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0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043"/>
                </a:solidFill>
                <a:latin typeface="Microsoft YaHei"/>
                <a:ea typeface="Microsoft YaHei"/>
                <a:cs typeface="Microsoft YaHei"/>
              </a:rPr>
              <a:t>结果绑定当前代码；代码一变旧结果失效。失败可诊断、回退、人工确认或退出流程。</a:t>
            </a:r>
          </a:p>
        </p:txBody>
      </p:sp>
      <p:sp>
        <p:nvSpPr>
          <p:cNvPr id="34" name="outcomes-title">
            <a:extLst xmlns:a="http://schemas.openxmlformats.org/drawingml/2006/main">
              <a:ext uri="{FF2B5EF4-FFF2-40B4-BE49-F238E27FC236}">
                <a16:creationId xmlns:a16="http://schemas.microsoft.com/office/drawing/2014/main" id="{4708220F-E994-47F9-A638-444269A2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430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这套机制解决的，都是实战里真遇到的问题</a:t>
            </a:r>
          </a:p>
        </p:txBody>
      </p:sp>
      <p:sp>
        <p:nvSpPr>
          <p:cNvPr id="35" name="outcome-no-0">
            <a:extLst xmlns:a="http://schemas.openxmlformats.org/drawingml/2006/main">
              <a:ext uri="{FF2B5EF4-FFF2-40B4-BE49-F238E27FC236}">
                <a16:creationId xmlns:a16="http://schemas.microsoft.com/office/drawing/2014/main" id="{BBFF5B1D-E016-4632-8098-FBA5D69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6" name="outcome-num-0">
            <a:extLst xmlns:a="http://schemas.openxmlformats.org/drawingml/2006/main">
              <a:ext uri="{FF2B5EF4-FFF2-40B4-BE49-F238E27FC236}">
                <a16:creationId xmlns:a16="http://schemas.microsoft.com/office/drawing/2014/main" id="{431E630A-EA5F-414A-9073-E6C75A0C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3837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7" name="outcome-t-0">
            <a:extLst xmlns:a="http://schemas.openxmlformats.org/drawingml/2006/main">
              <a:ext uri="{FF2B5EF4-FFF2-40B4-BE49-F238E27FC236}">
                <a16:creationId xmlns:a16="http://schemas.microsoft.com/office/drawing/2014/main" id="{9AA12406-6825-4DF1-A3C6-3D0CDCC2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71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需求不清</a:t>
            </a:r>
          </a:p>
        </p:txBody>
      </p:sp>
      <p:sp>
        <p:nvSpPr>
          <p:cNvPr id="38" name="outcome-b-0">
            <a:extLst xmlns:a="http://schemas.openxmlformats.org/drawingml/2006/main">
              <a:ext uri="{FF2B5EF4-FFF2-40B4-BE49-F238E27FC236}">
                <a16:creationId xmlns:a16="http://schemas.microsoft.com/office/drawing/2014/main" id="{FA88764C-BF66-494B-ADBD-49CBAD36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持续追问，决策树越问越深</a:t>
            </a:r>
          </a:p>
        </p:txBody>
      </p:sp>
      <p:sp>
        <p:nvSpPr>
          <p:cNvPr id="39" name="outcome-no-1">
            <a:extLst xmlns:a="http://schemas.openxmlformats.org/drawingml/2006/main">
              <a:ext uri="{FF2B5EF4-FFF2-40B4-BE49-F238E27FC236}">
                <a16:creationId xmlns:a16="http://schemas.microsoft.com/office/drawing/2014/main" id="{0B954BB4-81EB-4EDD-BD6A-A05E076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955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0" name="outcome-num-1">
            <a:extLst xmlns:a="http://schemas.openxmlformats.org/drawingml/2006/main">
              <a:ext uri="{FF2B5EF4-FFF2-40B4-BE49-F238E27FC236}">
                <a16:creationId xmlns:a16="http://schemas.microsoft.com/office/drawing/2014/main" id="{B8188D17-EE65-4B2B-B2BB-B4ADFBEC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4320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1" name="outcome-t-1">
            <a:extLst xmlns:a="http://schemas.openxmlformats.org/drawingml/2006/main">
              <a:ext uri="{FF2B5EF4-FFF2-40B4-BE49-F238E27FC236}">
                <a16:creationId xmlns:a16="http://schemas.microsoft.com/office/drawing/2014/main" id="{7992D48C-F292-4136-8154-2B0F6A8A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765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乱猜命令</a:t>
            </a:r>
          </a:p>
        </p:txBody>
      </p:sp>
      <p:sp>
        <p:nvSpPr>
          <p:cNvPr id="42" name="outcome-b-1">
            <a:extLst xmlns:a="http://schemas.openxmlformats.org/drawingml/2006/main">
              <a:ext uri="{FF2B5EF4-FFF2-40B4-BE49-F238E27FC236}">
                <a16:creationId xmlns:a16="http://schemas.microsoft.com/office/drawing/2014/main" id="{7906C25B-2068-443A-BC6F-06A35EF0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8607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项目配置和任务卡先说清楚</a:t>
            </a:r>
          </a:p>
        </p:txBody>
      </p:sp>
      <p:sp>
        <p:nvSpPr>
          <p:cNvPr id="43" name="outcome-no-2">
            <a:extLst xmlns:a="http://schemas.openxmlformats.org/drawingml/2006/main">
              <a:ext uri="{FF2B5EF4-FFF2-40B4-BE49-F238E27FC236}">
                <a16:creationId xmlns:a16="http://schemas.microsoft.com/office/drawing/2014/main" id="{120C6A4D-BDBC-4E81-B427-1084FF6D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04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44" name="outcome-num-2">
            <a:extLst xmlns:a="http://schemas.openxmlformats.org/drawingml/2006/main">
              <a:ext uri="{FF2B5EF4-FFF2-40B4-BE49-F238E27FC236}">
                <a16:creationId xmlns:a16="http://schemas.microsoft.com/office/drawing/2014/main" id="{5281CFDF-B856-4BE3-AF54-68831FB3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4802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5" name="outcome-t-2">
            <a:extLst xmlns:a="http://schemas.openxmlformats.org/drawingml/2006/main">
              <a:ext uri="{FF2B5EF4-FFF2-40B4-BE49-F238E27FC236}">
                <a16:creationId xmlns:a16="http://schemas.microsoft.com/office/drawing/2014/main" id="{7125F6A1-F3A8-4569-98C8-E817300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81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主会话被长日志淹没</a:t>
            </a:r>
          </a:p>
        </p:txBody>
      </p:sp>
      <p:sp>
        <p:nvSpPr>
          <p:cNvPr id="46" name="outcome-b-2">
            <a:extLst xmlns:a="http://schemas.openxmlformats.org/drawingml/2006/main">
              <a:ext uri="{FF2B5EF4-FFF2-40B4-BE49-F238E27FC236}">
                <a16:creationId xmlns:a16="http://schemas.microsoft.com/office/drawing/2014/main" id="{5B48188E-3295-430B-AF61-D1910BB7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编译和 UT 交给专项 Agent</a:t>
            </a:r>
          </a:p>
        </p:txBody>
      </p:sp>
      <p:sp>
        <p:nvSpPr>
          <p:cNvPr id="47" name="outcome-no-3">
            <a:extLst xmlns:a="http://schemas.openxmlformats.org/drawingml/2006/main">
              <a:ext uri="{FF2B5EF4-FFF2-40B4-BE49-F238E27FC236}">
                <a16:creationId xmlns:a16="http://schemas.microsoft.com/office/drawing/2014/main" id="{24EA5781-2A58-435B-9E2C-6DC13C71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052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48" name="outcome-num-3">
            <a:extLst xmlns:a="http://schemas.openxmlformats.org/drawingml/2006/main">
              <a:ext uri="{FF2B5EF4-FFF2-40B4-BE49-F238E27FC236}">
                <a16:creationId xmlns:a16="http://schemas.microsoft.com/office/drawing/2014/main" id="{8D484A13-8F1A-435D-A2F1-0C62403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5285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9" name="outcome-t-3">
            <a:extLst xmlns:a="http://schemas.openxmlformats.org/drawingml/2006/main">
              <a:ext uri="{FF2B5EF4-FFF2-40B4-BE49-F238E27FC236}">
                <a16:creationId xmlns:a16="http://schemas.microsoft.com/office/drawing/2014/main" id="{3DFEC229-1828-4910-8DA2-DE530338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86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告警被擅自豁免</a:t>
            </a:r>
          </a:p>
        </p:txBody>
      </p:sp>
      <p:sp>
        <p:nvSpPr>
          <p:cNvPr id="50" name="outcome-b-3">
            <a:extLst xmlns:a="http://schemas.openxmlformats.org/drawingml/2006/main">
              <a:ext uri="{FF2B5EF4-FFF2-40B4-BE49-F238E27FC236}">
                <a16:creationId xmlns:a16="http://schemas.microsoft.com/office/drawing/2014/main" id="{93196EB9-627E-4E50-BD5E-66EF36D8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957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原因必须交给用户决定</a:t>
            </a:r>
          </a:p>
        </p:txBody>
      </p:sp>
      <p:sp>
        <p:nvSpPr>
          <p:cNvPr id="51" name="outcome-no-4">
            <a:extLst xmlns:a="http://schemas.openxmlformats.org/drawingml/2006/main">
              <a:ext uri="{FF2B5EF4-FFF2-40B4-BE49-F238E27FC236}">
                <a16:creationId xmlns:a16="http://schemas.microsoft.com/office/drawing/2014/main" id="{398E858B-26F8-4B84-B257-4AD89F9D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52" name="outcome-num-4">
            <a:extLst xmlns:a="http://schemas.openxmlformats.org/drawingml/2006/main">
              <a:ext uri="{FF2B5EF4-FFF2-40B4-BE49-F238E27FC236}">
                <a16:creationId xmlns:a16="http://schemas.microsoft.com/office/drawing/2014/main" id="{FC96B901-AB5B-448C-9615-A6E6D29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5767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3" name="outcome-t-4">
            <a:extLst xmlns:a="http://schemas.openxmlformats.org/drawingml/2006/main">
              <a:ext uri="{FF2B5EF4-FFF2-40B4-BE49-F238E27FC236}">
                <a16:creationId xmlns:a16="http://schemas.microsoft.com/office/drawing/2014/main" id="{7B2CBF75-D2A2-41FD-B69A-CB8D8E0B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9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只写 UT 不执行</a:t>
            </a:r>
          </a:p>
        </p:txBody>
      </p:sp>
      <p:sp>
        <p:nvSpPr>
          <p:cNvPr id="54" name="outcome-b-4">
            <a:extLst xmlns:a="http://schemas.openxmlformats.org/drawingml/2006/main">
              <a:ext uri="{FF2B5EF4-FFF2-40B4-BE49-F238E27FC236}">
                <a16:creationId xmlns:a16="http://schemas.microsoft.com/office/drawing/2014/main" id="{80AEE861-3B66-48E9-9DB5-4523084E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005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真实运行结果才能继续</a:t>
            </a:r>
          </a:p>
        </p:txBody>
      </p:sp>
      <p:sp>
        <p:nvSpPr>
          <p:cNvPr id="55" name="outcome-no-5">
            <a:extLst xmlns:a="http://schemas.openxmlformats.org/drawingml/2006/main">
              <a:ext uri="{FF2B5EF4-FFF2-40B4-BE49-F238E27FC236}">
                <a16:creationId xmlns:a16="http://schemas.microsoft.com/office/drawing/2014/main" id="{CD4D9F74-2279-4875-842C-AE25BF63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148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56" name="outcome-num-5">
            <a:extLst xmlns:a="http://schemas.openxmlformats.org/drawingml/2006/main">
              <a:ext uri="{FF2B5EF4-FFF2-40B4-BE49-F238E27FC236}">
                <a16:creationId xmlns:a16="http://schemas.microsoft.com/office/drawing/2014/main" id="{97F1191E-5435-4146-BD33-48C6BAD2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6250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7" name="outcome-t-5">
            <a:extLst xmlns:a="http://schemas.openxmlformats.org/drawingml/2006/main">
              <a:ext uri="{FF2B5EF4-FFF2-40B4-BE49-F238E27FC236}">
                <a16:creationId xmlns:a16="http://schemas.microsoft.com/office/drawing/2014/main" id="{1280E781-1A80-4232-B47B-3D482A39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958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上下文突然消失</a:t>
            </a:r>
          </a:p>
        </p:txBody>
      </p:sp>
      <p:sp>
        <p:nvSpPr>
          <p:cNvPr id="58" name="outcome-b-5">
            <a:extLst xmlns:a="http://schemas.openxmlformats.org/drawingml/2006/main">
              <a:ext uri="{FF2B5EF4-FFF2-40B4-BE49-F238E27FC236}">
                <a16:creationId xmlns:a16="http://schemas.microsoft.com/office/drawing/2014/main" id="{2EA7FEE6-8083-4B19-8294-DF47768A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0537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状态持久化，重新打开接着做</a:t>
            </a:r>
          </a:p>
        </p:txBody>
      </p:sp>
      <p:sp>
        <p:nvSpPr>
          <p:cNvPr id="59" name="outcome-no-6">
            <a:extLst xmlns:a="http://schemas.openxmlformats.org/drawingml/2006/main">
              <a:ext uri="{FF2B5EF4-FFF2-40B4-BE49-F238E27FC236}">
                <a16:creationId xmlns:a16="http://schemas.microsoft.com/office/drawing/2014/main" id="{A74C2B37-39D5-4D58-88C4-4116846C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197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F33"/>
          </a:solidFill>
          <a:ln xmlns:a="http://schemas.openxmlformats.org/drawingml/2006/main" w="9525">
            <a:solidFill>
              <a:srgbClr val="2B2F33"/>
            </a:solidFill>
            <a:prstDash val="solid"/>
          </a:ln>
        </p:spPr>
      </p:sp>
      <p:sp>
        <p:nvSpPr>
          <p:cNvPr id="60" name="outcome-num-6">
            <a:extLst xmlns:a="http://schemas.openxmlformats.org/drawingml/2006/main">
              <a:ext uri="{FF2B5EF4-FFF2-40B4-BE49-F238E27FC236}">
                <a16:creationId xmlns:a16="http://schemas.microsoft.com/office/drawing/2014/main" id="{3C20BF1C-F9DD-4E5E-A2CB-9B05C911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6732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1" name="outcome-t-6">
            <a:extLst xmlns:a="http://schemas.openxmlformats.org/drawingml/2006/main">
              <a:ext uri="{FF2B5EF4-FFF2-40B4-BE49-F238E27FC236}">
                <a16:creationId xmlns:a16="http://schemas.microsoft.com/office/drawing/2014/main" id="{0EBF5677-9646-4746-8CF8-52CBCE02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00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同一个坑反复踩</a:t>
            </a:r>
          </a:p>
        </p:txBody>
      </p:sp>
      <p:sp>
        <p:nvSpPr>
          <p:cNvPr id="62" name="outcome-b-6">
            <a:extLst xmlns:a="http://schemas.openxmlformats.org/drawingml/2006/main">
              <a:ext uri="{FF2B5EF4-FFF2-40B4-BE49-F238E27FC236}">
                <a16:creationId xmlns:a16="http://schemas.microsoft.com/office/drawing/2014/main" id="{4820AF0C-8EAE-4A9E-B816-C67A6265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102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075"/>
                </a:solidFill>
                <a:latin typeface="Microsoft YaHei"/>
                <a:ea typeface="Microsoft YaHei"/>
                <a:cs typeface="Microsoft YaHei"/>
              </a:rPr>
              <a:t>结束时沉淀，下次开工前复用</a:t>
            </a:r>
          </a:p>
        </p:txBody>
      </p:sp>
      <p:sp>
        <p:nvSpPr>
          <p:cNvPr id="63" name="close-band">
            <a:extLst xmlns:a="http://schemas.openxmlformats.org/drawingml/2006/main">
              <a:ext uri="{FF2B5EF4-FFF2-40B4-BE49-F238E27FC236}">
                <a16:creationId xmlns:a16="http://schemas.microsoft.com/office/drawing/2014/main" id="{8A61378E-B9A9-42F7-B519-F2540232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64" name="close-main">
            <a:extLst xmlns:a="http://schemas.openxmlformats.org/drawingml/2006/main">
              <a:ext uri="{FF2B5EF4-FFF2-40B4-BE49-F238E27FC236}">
                <a16:creationId xmlns:a16="http://schemas.microsoft.com/office/drawing/2014/main" id="{610E1C1E-F22C-4FB0-838F-29D131C4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531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目标不是让流程更复杂，而是让能力一般、上下文会丢、偶尔会忘指令的模型，也只能一步一步把事情做对。</a:t>
            </a:r>
          </a:p>
        </p:txBody>
      </p:sp>
    </p:spTree>
    <p:extLst>
      <p:ext uri="{BB962C8B-B14F-4D97-AF65-F5344CB8AC3E}">
        <p14:creationId xmlns:p14="http://schemas.microsoft.com/office/powerpoint/2010/main" val="821506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2026-07-22T15:12:36.7020000Z</dcterms:created>
  <dcterms:modified xsi:type="dcterms:W3CDTF">2026-07-22T15:12:36.7020000Z</dcterms:modified>
</coreProperties>
</file>